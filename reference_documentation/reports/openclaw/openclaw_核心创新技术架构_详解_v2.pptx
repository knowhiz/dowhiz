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PingFang SC"/>
              </a:defRPr>
            </a:pPr>
            <a:r>
              <a:t>OpenClaw 核心创新技术架构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7E7F7"/>
                </a:solidFill>
                <a:latin typeface="PingFang SC"/>
              </a:defRPr>
            </a:pPr>
            <a:r>
              <a:t>基于 external/openclaw 源码与官方文档的系统级深度拆解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063240"/>
            <a:ext cx="7589520" cy="1783080"/>
          </a:xfrm>
          <a:prstGeom prst="roundRect">
            <a:avLst/>
          </a:prstGeom>
          <a:solidFill>
            <a:srgbClr val="112A46"/>
          </a:solidFill>
          <a:ln>
            <a:solidFill>
              <a:srgbClr val="2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EC4B6"/>
                </a:solidFill>
                <a:latin typeface="PingFang SC"/>
              </a:defRPr>
            </a:pPr>
            <a:r>
              <a:t>研究结论先行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1) OpenClaw 的本质是“可治理 AI 网关”，不是单通道 Bot。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2) 核心壁垒在于：统一控制平面 + 确定性路由 + 分层安全模型。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3) 对 DoWhiz 的高价值迁移点：会话键规范、路由层次、运行时策略引擎。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5303520"/>
            <a:ext cx="2148840" cy="914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132B"/>
                </a:solidFill>
                <a:latin typeface="PingFang SC"/>
              </a:defRPr>
            </a:pPr>
            <a:r>
              <a:t>18 页</a:t>
            </a:r>
            <a:br/>
            <a:r>
              <a:t>架构深拆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2"/>
                </a:solidFill>
                <a:latin typeface="PingFang SC"/>
              </a:defRPr>
            </a:pPr>
            <a:r>
              <a:t>来源：OpenClaw 源码仓库（v2026.2.23）+ docs.openclaw.ai + 社区技术解读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研究方法与结构导航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先证据、后结论：文档与源码双轨交叉验证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4864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分析方法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9834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核心入口：gateway / channels / routing / node-host / media / skills。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证据链：优先本地源码与官方文档；网络资料用于对照视角。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输出目标：提炼“可复用架构机制”，而非功能清单。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强调工程边界：安全、可运维性、演进成本三维评估。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74920" cy="411480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99339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章节结构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87168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A. 架构总览与控制平面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B. 路由/会话/多代理机制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C. 插件化通道与流式回复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D. 安全策略栈与执行审批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E. 模型容灾、媒体管线与运维治理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F. 对 DoWhiz 的可迁移路线图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目录：18 页，覆盖 11 个核心创新点。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系统分层全景（System of Systems）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Gateway 作为统一中枢，连接渠道、代理、工具与设备节点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0241280" cy="676656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92807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外部消息层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WhatsApp / Telegram / Discord / Slack / Signal / iMessage / WebChat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60320"/>
            <a:ext cx="10241280" cy="676656"/>
          </a:xfrm>
          <a:prstGeom prst="round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7004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渠道接入层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7004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channels + channel plugins + outbound adapters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37560"/>
            <a:ext cx="10241280" cy="676656"/>
          </a:xfrm>
          <a:prstGeom prst="round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4728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路由会话层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4728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bindings tiers + session-key algebra + dmScope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14800"/>
            <a:ext cx="10241280" cy="676656"/>
          </a:xfrm>
          <a:prstGeom prst="roundRect">
            <a:avLst/>
          </a:prstGeom>
          <a:solidFill>
            <a:srgbClr val="6D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2452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Agent 运行层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2452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pi-agent-core embedded loop + tool streaming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892040"/>
            <a:ext cx="10241280" cy="676656"/>
          </a:xfrm>
          <a:prstGeom prst="roundRect">
            <a:avLst/>
          </a:prstGeom>
          <a:solidFill>
            <a:srgbClr val="B56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00176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工具执行层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0176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read/write/edit/exec/browser/canvas/nodes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669279"/>
            <a:ext cx="10241280" cy="676656"/>
          </a:xfrm>
          <a:prstGeom prst="roundRect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779007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安全治理层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779007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pairing/auth/sandbox/policy/elevated/approvals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锚点：docs/concepts/architecture.md + src/gateway/* + src/channels/* + src/routing/*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创新 1：统一 WebSocket 控制平面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不是“接口集合”，而是有角色、作用域、挑战握手的协议内核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80644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关键机制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53035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强类型帧：req/res/event（TypeBox schema）。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握手先发 connect.challenge，再校验 device signature + nonce。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operator 与 node 共用同一协议栈，统一 role/scopes/caps 治理。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side-effect 方法要求 idempotency key，避免重放副作用。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hello-ok 下发 features/snapshot/policy，天然支持多客户端状态对齐。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011680"/>
            <a:ext cx="4754880" cy="3840480"/>
          </a:xfrm>
          <a:prstGeom prst="roundRect">
            <a:avLst/>
          </a:prstGeom>
          <a:solidFill>
            <a:srgbClr val="102740"/>
          </a:solidFill>
          <a:ln>
            <a:solidFill>
              <a:srgbClr val="294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2EC4B6"/>
                </a:solidFill>
                <a:latin typeface="PingFang SC"/>
              </a:defRPr>
            </a:pPr>
            <a:r>
              <a:t>握手流程（简化）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① Gateway -&gt; connect.challenge(nonce)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② Client -&gt; req.connect(auth + device + signature)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③ Server: 协议版本/签名/权限/配对状态校验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④ res.hello-ok + deviceToken + policy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⑤ 进入 req/res/event 全双工控制面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源码：src/gateway/protocol/schema/frames.ts, src/gateway/server/ws-connection/message-handler.ts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2：确定性路由 + 会话键代数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OpenClaw 把“多渠道上下文一致性”问题工程化为可验证规则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55648"/>
            <a:ext cx="3520440" cy="452628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192024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会话键策略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14015"/>
            <a:ext cx="30175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主键前缀：agent:&lt;agentId&gt;:...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dmScope：main / per-peer / per-channel-peer / per-account-channel-peer。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群组键独立：...:&lt;channel&gt;:group|channel:&lt;id&gt;。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identityLinks 可跨渠道归并同一用户身份。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828800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binding.peer（最精确）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359152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binding.peer.parent（线程继承）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89504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889504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binding.guild+roles（Discord 角色路由）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19856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419856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binding.guild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50208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950208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binding.team（Slack）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0560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480560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10912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5010912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binding.channel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41264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5541264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default（兜底代理）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源码：src/routing/resolve-route.ts（8级优先级） + src/routing/session-key.ts（键构造）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3：双 Pairing 安全模型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把“消息准入”与“设备准入”拆成两条独立信任链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669280" cy="4389120"/>
          </a:xfrm>
          <a:prstGeom prst="roundRect">
            <a:avLst/>
          </a:prstGeom>
          <a:solidFill>
            <a:srgbClr val="FDEBE6"/>
          </a:solidFill>
          <a:ln w="15875">
            <a:solidFill>
              <a:srgbClr val="F9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DM Pairing（渠道侧）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51663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未知发信人先给 pairing code，不直接触发模型执行。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审批后写入 allowFrom，本地文件持久化。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pairing 请求有 TTL、数量上限与并发锁。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默认策略鼓励 pairing/allowlist，而非开放 DM。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937760" cy="438912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993392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Device Pairing（节点侧）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87168"/>
            <a:ext cx="44348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设备连接需 device identity + 签名 + nonce 挑战应答。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设备 token 与 role/scopes 绑定，可 rotate/revoke。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approve/reject/remove 全量可审计，广播 pair 事件。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使“节点能力执行”可控且可追溯。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锚点：docs/channels/pairing.md, src/pairing/pairing-store.ts, src/gateway/server-methods/devices.ts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4：通道插件化契约（Channel Plugin Contract）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把“消息平台差异”收敛为可插拔 adapter 集合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1430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9728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52238"/>
                </a:solidFill>
                <a:latin typeface="PingFang SC"/>
              </a:defRPr>
            </a:pPr>
            <a:r>
              <a:t>ChannelPlugin 典型适配面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config / setup / pairing / security / groups / outbound / status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gateway / auth / commands / threading / streaming / messaging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directory / resolver / actions / heartbeat / agentTools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同一通道生命周期在同一个契约中完成，不再散落在多模块“拼装”。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配合 plugins allow/deny 与 schema 校验，实现扩展能力和治理能力同步增长。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源码：src/channels/plugins/types.plugin.ts + types.adapters.ts + docs/tools/plugin.md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5：双层流式回复机制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Block Streaming 与 Preview Streaming 分层，兼顾可读性与实时反馈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5778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Block Streaming（真实消息块）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5074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按 text_end 或 message_end 刷出块消息。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min/max 字符阈值 + break preference（段落/换行/句子）。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代码块分割保护：必要时自动闭合与重开 fence。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可配置 coalesce，避免碎片化“连发刷屏”。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5074920" cy="438912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99339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Preview Streaming（临时预览）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87168"/>
            <a:ext cx="45720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Telegram/Discord/Slack 支持预览消息编辑。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模式：off / partial / block / progress。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与 block streaming 显式避冲突，防止“双重流式”。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核心是交互体验层，不替代最终消息持久语义。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文档：docs/concepts/streaming.md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6：运行时安全三层栈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Sandbox（在哪执行）× Tool Policy（能做什么）× Elevated（特权逃逸）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14400" y="1783080"/>
            <a:ext cx="5760720" cy="4663440"/>
          </a:xfrm>
          <a:prstGeom prst="triangle">
            <a:avLst/>
          </a:prstGeom>
          <a:solidFill>
            <a:srgbClr val="DCEAF8"/>
          </a:solidFill>
          <a:ln>
            <a:solidFill>
              <a:srgbClr val="B9D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057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D3B3B"/>
                </a:solidFill>
                <a:latin typeface="PingFang SC"/>
              </a:defRPr>
            </a:pPr>
            <a:r>
              <a:t>Elevated（仅 exec 特权通道）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718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4A6E"/>
                </a:solidFill>
                <a:latin typeface="PingFang SC"/>
              </a:defRPr>
            </a:pPr>
            <a:r>
              <a:t>Tool Policy（allow/deny/group）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069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5F55"/>
                </a:solidFill>
                <a:latin typeface="PingFang SC"/>
              </a:defRPr>
            </a:pPr>
            <a:r>
              <a:t>Sandbox（host vs docker）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61772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993392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工程价值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487168"/>
            <a:ext cx="41148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把“执行位置”和“权限策略”解耦，避免单开关幻觉。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可按 agent/session 维度差异化配置。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对高风险工具默认可收敛到 deny + 审批。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结合 pairing 与 scope，可形成端到端最小权限路径。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文档：docs/gateway/sandboxing.md + docs/gateway/sandbox-vs-tool-policy-vs-elevated.md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创新 7：system.run 策略引擎（非布尔开关）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命令执行由 security/ask/allowlist/approval 联合求值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2148840" cy="1463040"/>
          </a:xfrm>
          <a:prstGeom prst="roundRect">
            <a:avLst/>
          </a:prstGeom>
          <a:solidFill>
            <a:srgbClr val="DFF3F2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命令解析</a:t>
            </a:r>
            <a:br/>
            <a:r>
              <a:t>argv/shell</a:t>
            </a:r>
          </a:p>
        </p:txBody>
      </p:sp>
      <p:sp>
        <p:nvSpPr>
          <p:cNvPr id="8" name="Chevron 7"/>
          <p:cNvSpPr/>
          <p:nvPr/>
        </p:nvSpPr>
        <p:spPr>
          <a:xfrm>
            <a:off x="3044951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331720"/>
            <a:ext cx="2148840" cy="1463040"/>
          </a:xfrm>
          <a:prstGeom prst="roundRect">
            <a:avLst/>
          </a:prstGeom>
          <a:solidFill>
            <a:srgbClr val="E5EEF8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allowlist 分析</a:t>
            </a:r>
            <a:br/>
            <a:r>
              <a:t>匹配与风险判定</a:t>
            </a:r>
          </a:p>
        </p:txBody>
      </p:sp>
      <p:sp>
        <p:nvSpPr>
          <p:cNvPr id="10" name="Chevron 9"/>
          <p:cNvSpPr/>
          <p:nvPr/>
        </p:nvSpPr>
        <p:spPr>
          <a:xfrm>
            <a:off x="5376672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32120" y="2331720"/>
            <a:ext cx="2148840" cy="1463040"/>
          </a:xfrm>
          <a:prstGeom prst="roundRect">
            <a:avLst/>
          </a:prstGeom>
          <a:solidFill>
            <a:srgbClr val="FDEBE6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审批策略</a:t>
            </a:r>
            <a:br/>
            <a:r>
              <a:t>ask/off/on-miss</a:t>
            </a:r>
          </a:p>
        </p:txBody>
      </p:sp>
      <p:sp>
        <p:nvSpPr>
          <p:cNvPr id="12" name="Chevron 11"/>
          <p:cNvSpPr/>
          <p:nvPr/>
        </p:nvSpPr>
        <p:spPr>
          <a:xfrm>
            <a:off x="7708392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2331720"/>
            <a:ext cx="2148840" cy="1463040"/>
          </a:xfrm>
          <a:prstGeom prst="roundRect">
            <a:avLst/>
          </a:prstGeom>
          <a:solidFill>
            <a:srgbClr val="E9F5E5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执行通道</a:t>
            </a:r>
            <a:br/>
            <a:r>
              <a:t>host 或 companion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10040111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95560" y="2331720"/>
            <a:ext cx="2148840" cy="1463040"/>
          </a:xfrm>
          <a:prstGeom prst="roundRect">
            <a:avLst/>
          </a:prstGeom>
          <a:solidFill>
            <a:srgbClr val="EFE8FA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事件回传</a:t>
            </a:r>
            <a:br/>
            <a:r>
              <a:t>exec.finished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69080"/>
            <a:ext cx="107899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23367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关键点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27448"/>
            <a:ext cx="10287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可识别 shell wrapper（如 bash -c / cmd.exe /c）并阻断绕过式调用。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allow-once / allow-always 与 allowlist 记录联动，形成可追踪演进策略。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配合 exec approval 事件，支持“运行中人类确认”闭环。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源码：src/node-host/exec-policy.ts + src/node-host/invoke-system-run.ts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8：模型容灾 = profile 轮转 + fallback 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认证状态与模型策略协同，减少单 provider 脆弱性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6692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Provider 内部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5166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auth profiles（OAuth/API key）按规则轮转。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对 rate-limit/auth/billing 建立 cooldown/disable 状态。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会话维度 profile stickiness，优先稳定缓存与上下文连续性。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失败后优先 provider 内切换，再决定是否跨模型 fallback。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937760" cy="448056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993392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跨模型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87168"/>
            <a:ext cx="4434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agents.defaults.model.primary + fallbacks 按序尝试。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当 provider 内 profile 已耗尽，切换到下一个模型。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兼顾可靠性与成本，不把失败处理留给外层调用方。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同一机制可支撑多 provider 统一接入。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文档：docs/concepts/model-failover.md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9：OpenAI / OpenResponses 兼容网关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外部协议兼容 + 内部运行时统一，降低生态接入成本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1430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8813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入口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POST /v1/chat/completions（OpenAI 兼容）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POST /v1/responses（OpenResponses 兼容，支持 item/tool/image/file 流程）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与 Gateway auth、agent routing、sessionKey 规则保持一致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请求在内部仍走统一 agentCommand 链路，减少实现分叉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stream 模式统一映射为 SSE 事件输出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源码：src/gateway/openai-http.ts + openresponses-http.ts；文档：docs/gateway/*http-api.md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10：Skills 平台（分层加载 + 动态刷新）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把“能力提示词工程”升级为可配置、可门控、可热更新的系统组件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4389120" cy="658368"/>
          </a:xfrm>
          <a:prstGeom prst="roundRect">
            <a:avLst/>
          </a:prstGeom>
          <a:solidFill>
            <a:srgbClr val="A7D7F9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workspace/skills（最高优先级）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70632"/>
            <a:ext cx="4389120" cy="658368"/>
          </a:xfrm>
          <a:prstGeom prst="roundRect">
            <a:avLst/>
          </a:prstGeom>
          <a:solidFill>
            <a:srgbClr val="CDE9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~/.openclaw/skills（managed）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29584"/>
            <a:ext cx="4389120" cy="658368"/>
          </a:xfrm>
          <a:prstGeom prst="roundRect">
            <a:avLst/>
          </a:prstGeom>
          <a:solidFill>
            <a:srgbClr val="E2F2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bundled skills（内置）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88536"/>
            <a:ext cx="4389120" cy="658368"/>
          </a:xfrm>
          <a:prstGeom prst="roundRect">
            <a:avLst/>
          </a:prstGeom>
          <a:solidFill>
            <a:srgbClr val="F0F8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extraDirs + plugin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828800"/>
            <a:ext cx="56692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机制亮点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487168"/>
            <a:ext cx="5166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metadata gate：bins/env/config/os 条件过滤。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session 技能快照复用，降低每轮重建开销。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watcher 监听 SKILL.md 变化，下一轮自动刷新。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可与远端 node 能力联动，动态改变技能可用集合。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文档：docs/tools/skills.md；源码：src/agents/skills/workspace.ts + refresh.ts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11：媒体管线的安全与生命周期治理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从 URL 拉取、类型识别、临时存储到回收，全链路有保护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1247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URL 输入</a:t>
            </a:r>
          </a:p>
        </p:txBody>
      </p:sp>
      <p:sp>
        <p:nvSpPr>
          <p:cNvPr id="9" name="Chevron 8"/>
          <p:cNvSpPr/>
          <p:nvPr/>
        </p:nvSpPr>
        <p:spPr>
          <a:xfrm>
            <a:off x="27249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SSRF Guard</a:t>
            </a:r>
            <a:br/>
            <a:r>
              <a:t>DNS/IP/重定向</a:t>
            </a:r>
          </a:p>
        </p:txBody>
      </p:sp>
      <p:sp>
        <p:nvSpPr>
          <p:cNvPr id="11" name="Chevron 10"/>
          <p:cNvSpPr/>
          <p:nvPr/>
        </p:nvSpPr>
        <p:spPr>
          <a:xfrm>
            <a:off x="45537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响应限流</a:t>
            </a:r>
            <a:br/>
            <a:r>
              <a:t>maxBytes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63825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MIME 识别</a:t>
            </a:r>
            <a:br/>
            <a:r>
              <a:t>magic/header/ext</a:t>
            </a:r>
          </a:p>
        </p:txBody>
      </p:sp>
      <p:sp>
        <p:nvSpPr>
          <p:cNvPr id="15" name="Chevron 14"/>
          <p:cNvSpPr/>
          <p:nvPr/>
        </p:nvSpPr>
        <p:spPr>
          <a:xfrm>
            <a:off x="82113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安全落盘</a:t>
            </a:r>
            <a:br/>
            <a:r>
              <a:t>path/symlink 防护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401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498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TTL 清理</a:t>
            </a:r>
            <a:br/>
            <a:r>
              <a:t>单次访问回收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48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74664"/>
                </a:solidFill>
                <a:latin typeface="PingFang SC"/>
              </a:defRPr>
            </a:pPr>
            <a:r>
              <a:t>重点：OpenClaw 把媒体当作“潜在攻击输入”处理，而非普通附件。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源码：src/media/fetch.ts + store.ts + server.ts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可靠性与运维：把长期运行作为一等公民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会话维护、压缩裁剪、重试与幂等共同组成“可持续运行闭环”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5760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Session 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1546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pruneAfter / maxEntries / rotateBytes / maxDiskBytes。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cleanup 支持 warn 与 enforce 模式。</a:t>
            </a:r>
          </a:p>
          <a:p>
            <a:pPr>
              <a:defRPr sz="1380">
                <a:solidFill>
                  <a:srgbClr val="334A64"/>
                </a:solidFill>
                <a:latin typeface="PingFang SC"/>
              </a:defRPr>
            </a:pPr>
            <a:r>
              <a:t>• 避免会话索引与转录文件无限膨胀。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57600" cy="452628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99339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Context 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87168"/>
            <a:ext cx="31546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compaction：持久化摘要进入 JSONL。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session pruning：请求前内存裁剪 toolResult。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二者分工明确，避免上下文失控。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154680" cy="4526280"/>
          </a:xfrm>
          <a:prstGeom prst="roundRect">
            <a:avLst/>
          </a:prstGeom>
          <a:solidFill>
            <a:srgbClr val="FDEBE6"/>
          </a:solidFill>
          <a:ln w="15875">
            <a:solidFill>
              <a:srgbClr val="F9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99339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传输健壮性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87168"/>
            <a:ext cx="26517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provider retry policy（按渠道定制）。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auth/hook 限流与失败回退。</a:t>
            </a:r>
          </a:p>
          <a:p>
            <a:pPr>
              <a:defRPr sz="1380">
                <a:solidFill>
                  <a:srgbClr val="2D425C"/>
                </a:solidFill>
                <a:latin typeface="PingFang SC"/>
              </a:defRPr>
            </a:pPr>
            <a:r>
              <a:t>• idempotency + dedupe 定时清理。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文档：docs/concepts/session.md / compaction.md / session-pruning.md / retry.md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工程规模证据（external/openclaw 本地统计）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不是原型级项目，而是大规模持续演进的生产工程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1B4965"/>
                </a:solidFill>
                <a:latin typeface="Georgia"/>
              </a:defRPr>
            </a:pPr>
            <a:r>
              <a:t>3676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TypeScript 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B56576"/>
                </a:solidFill>
                <a:latin typeface="Georgia"/>
              </a:defRPr>
            </a:pPr>
            <a:r>
              <a:t>1366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测试文件（*test.ts）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2A9D8F"/>
                </a:solidFill>
                <a:latin typeface="Georgia"/>
              </a:defRPr>
            </a:pPr>
            <a:r>
              <a:t>652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docs 文档文件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09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355070"/>
                </a:solidFill>
                <a:latin typeface="Georgia"/>
              </a:defRPr>
            </a:pPr>
            <a:r>
              <a:t>28MB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体量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63440"/>
            <a:ext cx="11018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52238"/>
                </a:solidFill>
                <a:latin typeface="PingFang SC"/>
              </a:defRPr>
            </a:pPr>
            <a:r>
              <a:t>工程启示</a:t>
            </a:r>
          </a:p>
          <a:p>
            <a:pPr>
              <a:defRPr sz="1350">
                <a:solidFill>
                  <a:srgbClr val="5B677A"/>
                </a:solidFill>
                <a:latin typeface="PingFang SC"/>
              </a:defRPr>
            </a:pPr>
            <a:r>
              <a:t>• 复杂度足够高，架构设计重点应放在治理能力与演进稳定性，而非单次功能实现。</a:t>
            </a:r>
          </a:p>
          <a:p>
            <a:pPr>
              <a:defRPr sz="1350">
                <a:solidFill>
                  <a:srgbClr val="5B677A"/>
                </a:solidFill>
                <a:latin typeface="PingFang SC"/>
              </a:defRPr>
            </a:pPr>
            <a:r>
              <a:t>• 高测试密度意味着其核心机制（路由、安全、协议）具备较强回归保障基础。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统计命令：rg --files + wc/du（本地执行）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面向 DoWhiz 的迁移路线图（建议）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先固化语义层，再引入执行层与安全层，避免“大一统重构风险”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1247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1（2-4周）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会话与路由基建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定义 session key 规范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固化 binding tiers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补回归测试矩阵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2（4-8周）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执行与安全治理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引入 sandbox/tool policy 分层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建设 exec 审批链路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分离 DM 与 device pairing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3（持续）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生态与兼容层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插件化通道契约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标准化 HTTP 兼容入口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skills 与能力目录化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迁移原则：先语义一致性（路由/会话），再能力扩展（插件/执行）。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FFFFFF"/>
                </a:solidFill>
                <a:latin typeface="PingFang SC"/>
              </a:defRPr>
            </a:pPr>
            <a:r>
              <a:t>结论：OpenClaw 的竞争力来自“系统治理能力”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7E7F7"/>
                </a:solidFill>
                <a:latin typeface="PingFang SC"/>
              </a:defRPr>
            </a:pPr>
            <a:r>
              <a:t>统一控制面、确定性路由、分层安全策略共同构成其技术护城河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607040" cy="3566160"/>
          </a:xfrm>
          <a:prstGeom prst="roundRect">
            <a:avLst/>
          </a:prstGeom>
          <a:solidFill>
            <a:srgbClr val="0F2C4A"/>
          </a:solidFill>
          <a:ln>
            <a:solidFill>
              <a:srgbClr val="2F5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2EC4B6"/>
                </a:solidFill>
                <a:latin typeface="PingFang SC"/>
              </a:defRPr>
            </a:pPr>
            <a:r>
              <a:t>最终判断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OpenClaw 已从“聊天机器人”进化为“个人 AI 网关操作系统”。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其创新重心在架构语义（协议/路由/会话/策略），不是单一模型能力。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对 DoWhiz 的最优学习路径：优先迁移治理框架，再做功能扩展。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这能在复杂度上升时保持可维护、可审计、可持续迭代。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2"/>
                </a:solidFill>
                <a:latin typeface="PingFang SC"/>
              </a:defRPr>
            </a:pPr>
            <a:r>
              <a:t>谢谢。附：详细技术文档 openclaw_核心创新技术架构分析.md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